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Cardo"/>
      <p:regular r:id="rId16"/>
      <p:bold r:id="rId17"/>
      <p:italic r:id="rId18"/>
    </p:embeddedFont>
    <p:embeddedFont>
      <p:font typeface="Gill Sans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g4r7krfLc7iLkKUB70zKU7uwPa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ill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Cardo-bold.fntdata"/><Relationship Id="rId16" Type="http://schemas.openxmlformats.org/officeDocument/2006/relationships/font" Target="fonts/Card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GillSans-regular.fntdata"/><Relationship Id="rId6" Type="http://schemas.openxmlformats.org/officeDocument/2006/relationships/slide" Target="slides/slide1.xml"/><Relationship Id="rId18" Type="http://schemas.openxmlformats.org/officeDocument/2006/relationships/font" Target="fonts/Card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2"/>
          <p:cNvSpPr txBox="1"/>
          <p:nvPr>
            <p:ph idx="10" type="dt"/>
          </p:nvPr>
        </p:nvSpPr>
        <p:spPr>
          <a:xfrm>
            <a:off x="11331208" y="495555"/>
            <a:ext cx="5251073" cy="46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1" type="ftr"/>
          </p:nvPr>
        </p:nvSpPr>
        <p:spPr>
          <a:xfrm>
            <a:off x="2177369" y="493961"/>
            <a:ext cx="8908254" cy="46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2" type="sldNum"/>
          </p:nvPr>
        </p:nvSpPr>
        <p:spPr>
          <a:xfrm>
            <a:off x="720091" y="1198460"/>
            <a:ext cx="1216529" cy="7553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"/>
          <p:cNvSpPr txBox="1"/>
          <p:nvPr>
            <p:ph type="ctrTitle"/>
          </p:nvPr>
        </p:nvSpPr>
        <p:spPr>
          <a:xfrm>
            <a:off x="3626669" y="1203448"/>
            <a:ext cx="12955610" cy="38121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0"/>
              <a:buFont typeface="Gill Sans"/>
              <a:buNone/>
              <a:defRPr sz="99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" type="subTitle"/>
          </p:nvPr>
        </p:nvSpPr>
        <p:spPr>
          <a:xfrm>
            <a:off x="3626670" y="5296807"/>
            <a:ext cx="12955608" cy="146643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SzPts val="2700"/>
              <a:buNone/>
              <a:defRPr b="0" sz="270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" name="Google Shape;21;p13"/>
          <p:cNvSpPr txBox="1"/>
          <p:nvPr>
            <p:ph idx="10" type="dt"/>
          </p:nvPr>
        </p:nvSpPr>
        <p:spPr>
          <a:xfrm>
            <a:off x="11331208" y="495555"/>
            <a:ext cx="5251073" cy="46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1" type="ftr"/>
          </p:nvPr>
        </p:nvSpPr>
        <p:spPr>
          <a:xfrm>
            <a:off x="3624751" y="493961"/>
            <a:ext cx="7460873" cy="46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2" type="sldNum"/>
          </p:nvPr>
        </p:nvSpPr>
        <p:spPr>
          <a:xfrm>
            <a:off x="2156497" y="1198460"/>
            <a:ext cx="1216529" cy="7553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13"/>
          <p:cNvCxnSpPr/>
          <p:nvPr/>
        </p:nvCxnSpPr>
        <p:spPr>
          <a:xfrm>
            <a:off x="3626670" y="5292813"/>
            <a:ext cx="12955608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2177369" y="1206779"/>
            <a:ext cx="14404913" cy="1573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" type="body"/>
          </p:nvPr>
        </p:nvSpPr>
        <p:spPr>
          <a:xfrm>
            <a:off x="2177369" y="3023599"/>
            <a:ext cx="14404913" cy="51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0" type="dt"/>
          </p:nvPr>
        </p:nvSpPr>
        <p:spPr>
          <a:xfrm>
            <a:off x="11331208" y="495555"/>
            <a:ext cx="5251073" cy="46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1" type="ftr"/>
          </p:nvPr>
        </p:nvSpPr>
        <p:spPr>
          <a:xfrm>
            <a:off x="2177369" y="493961"/>
            <a:ext cx="8908254" cy="46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2" type="sldNum"/>
          </p:nvPr>
        </p:nvSpPr>
        <p:spPr>
          <a:xfrm>
            <a:off x="720091" y="1198460"/>
            <a:ext cx="1216529" cy="7553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1" name="Google Shape;31;p14"/>
          <p:cNvCxnSpPr/>
          <p:nvPr/>
        </p:nvCxnSpPr>
        <p:spPr>
          <a:xfrm>
            <a:off x="2180844" y="2770632"/>
            <a:ext cx="14411283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2181359" y="2634195"/>
            <a:ext cx="12964731" cy="2831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ill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" type="body"/>
          </p:nvPr>
        </p:nvSpPr>
        <p:spPr>
          <a:xfrm>
            <a:off x="2181359" y="5709293"/>
            <a:ext cx="12945669" cy="1519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700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700"/>
              <a:buNone/>
              <a:defRPr sz="27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5"/>
          <p:cNvSpPr txBox="1"/>
          <p:nvPr>
            <p:ph idx="10" type="dt"/>
          </p:nvPr>
        </p:nvSpPr>
        <p:spPr>
          <a:xfrm>
            <a:off x="11331208" y="495555"/>
            <a:ext cx="5251073" cy="46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1" type="ftr"/>
          </p:nvPr>
        </p:nvSpPr>
        <p:spPr>
          <a:xfrm>
            <a:off x="2177369" y="493961"/>
            <a:ext cx="8908254" cy="46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2" type="sldNum"/>
          </p:nvPr>
        </p:nvSpPr>
        <p:spPr>
          <a:xfrm>
            <a:off x="720091" y="1198460"/>
            <a:ext cx="1216529" cy="7553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8" name="Google Shape;38;p15"/>
          <p:cNvCxnSpPr/>
          <p:nvPr/>
        </p:nvCxnSpPr>
        <p:spPr>
          <a:xfrm>
            <a:off x="2181359" y="5707478"/>
            <a:ext cx="12945669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6"/>
          <p:cNvSpPr txBox="1"/>
          <p:nvPr>
            <p:ph type="title"/>
          </p:nvPr>
        </p:nvSpPr>
        <p:spPr>
          <a:xfrm>
            <a:off x="2173826" y="1207334"/>
            <a:ext cx="14408453" cy="1588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" type="body"/>
          </p:nvPr>
        </p:nvSpPr>
        <p:spPr>
          <a:xfrm>
            <a:off x="2170997" y="3016318"/>
            <a:ext cx="6967728" cy="5172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2" type="body"/>
          </p:nvPr>
        </p:nvSpPr>
        <p:spPr>
          <a:xfrm>
            <a:off x="9620657" y="3026015"/>
            <a:ext cx="6967728" cy="5162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0" type="dt"/>
          </p:nvPr>
        </p:nvSpPr>
        <p:spPr>
          <a:xfrm>
            <a:off x="11331208" y="495555"/>
            <a:ext cx="5251073" cy="46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1" type="ftr"/>
          </p:nvPr>
        </p:nvSpPr>
        <p:spPr>
          <a:xfrm>
            <a:off x="2177369" y="493961"/>
            <a:ext cx="8908254" cy="46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2" type="sldNum"/>
          </p:nvPr>
        </p:nvSpPr>
        <p:spPr>
          <a:xfrm>
            <a:off x="720091" y="1198460"/>
            <a:ext cx="1216529" cy="7553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6" name="Google Shape;46;p16"/>
          <p:cNvCxnSpPr/>
          <p:nvPr/>
        </p:nvCxnSpPr>
        <p:spPr>
          <a:xfrm>
            <a:off x="2180844" y="2770632"/>
            <a:ext cx="14411283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/>
          <p:nvPr>
            <p:ph type="title"/>
          </p:nvPr>
        </p:nvSpPr>
        <p:spPr>
          <a:xfrm>
            <a:off x="2170787" y="1206245"/>
            <a:ext cx="14411492" cy="1584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" type="body"/>
          </p:nvPr>
        </p:nvSpPr>
        <p:spPr>
          <a:xfrm>
            <a:off x="2170787" y="3029324"/>
            <a:ext cx="6967728" cy="12029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3300"/>
              <a:buNone/>
              <a:defRPr b="0" sz="33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3000"/>
              <a:buNone/>
              <a:defRPr b="1" sz="30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700"/>
              <a:buNone/>
              <a:defRPr b="1" sz="27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b="1" sz="24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b="1" sz="24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b="1" sz="24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b="1" sz="24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b="1" sz="24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0" name="Google Shape;50;p17"/>
          <p:cNvSpPr txBox="1"/>
          <p:nvPr>
            <p:ph idx="2" type="body"/>
          </p:nvPr>
        </p:nvSpPr>
        <p:spPr>
          <a:xfrm>
            <a:off x="2170787" y="4236404"/>
            <a:ext cx="6967728" cy="3966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3" type="body"/>
          </p:nvPr>
        </p:nvSpPr>
        <p:spPr>
          <a:xfrm>
            <a:off x="9618543" y="3034505"/>
            <a:ext cx="6967728" cy="12033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3300"/>
              <a:buNone/>
              <a:defRPr b="0" sz="33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3000"/>
              <a:buNone/>
              <a:defRPr b="1" sz="30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700"/>
              <a:buNone/>
              <a:defRPr b="1" sz="27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b="1" sz="24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b="1" sz="24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b="1" sz="24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b="1" sz="24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b="1" sz="24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2" name="Google Shape;52;p17"/>
          <p:cNvSpPr txBox="1"/>
          <p:nvPr>
            <p:ph idx="4" type="body"/>
          </p:nvPr>
        </p:nvSpPr>
        <p:spPr>
          <a:xfrm>
            <a:off x="9618543" y="4232237"/>
            <a:ext cx="6967728" cy="3956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0" type="dt"/>
          </p:nvPr>
        </p:nvSpPr>
        <p:spPr>
          <a:xfrm>
            <a:off x="11331208" y="495555"/>
            <a:ext cx="5251073" cy="46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7"/>
          <p:cNvSpPr txBox="1"/>
          <p:nvPr>
            <p:ph idx="11" type="ftr"/>
          </p:nvPr>
        </p:nvSpPr>
        <p:spPr>
          <a:xfrm>
            <a:off x="2177369" y="493961"/>
            <a:ext cx="8908254" cy="46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2" type="sldNum"/>
          </p:nvPr>
        </p:nvSpPr>
        <p:spPr>
          <a:xfrm>
            <a:off x="720091" y="1198460"/>
            <a:ext cx="1216529" cy="7553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6" name="Google Shape;56;p17"/>
          <p:cNvCxnSpPr/>
          <p:nvPr/>
        </p:nvCxnSpPr>
        <p:spPr>
          <a:xfrm>
            <a:off x="2180844" y="2770632"/>
            <a:ext cx="14411283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8"/>
          <p:cNvSpPr txBox="1"/>
          <p:nvPr>
            <p:ph type="title"/>
          </p:nvPr>
        </p:nvSpPr>
        <p:spPr>
          <a:xfrm>
            <a:off x="2177369" y="1206779"/>
            <a:ext cx="14404913" cy="1573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0" type="dt"/>
          </p:nvPr>
        </p:nvSpPr>
        <p:spPr>
          <a:xfrm>
            <a:off x="11331208" y="495555"/>
            <a:ext cx="5251073" cy="46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1" type="ftr"/>
          </p:nvPr>
        </p:nvSpPr>
        <p:spPr>
          <a:xfrm>
            <a:off x="2177369" y="493961"/>
            <a:ext cx="8908254" cy="46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8"/>
          <p:cNvSpPr txBox="1"/>
          <p:nvPr>
            <p:ph idx="12" type="sldNum"/>
          </p:nvPr>
        </p:nvSpPr>
        <p:spPr>
          <a:xfrm>
            <a:off x="720091" y="1198460"/>
            <a:ext cx="1216529" cy="7553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2" name="Google Shape;62;p18"/>
          <p:cNvCxnSpPr/>
          <p:nvPr/>
        </p:nvCxnSpPr>
        <p:spPr>
          <a:xfrm>
            <a:off x="2180844" y="2770632"/>
            <a:ext cx="14411283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9"/>
          <p:cNvSpPr txBox="1"/>
          <p:nvPr>
            <p:ph type="title"/>
          </p:nvPr>
        </p:nvSpPr>
        <p:spPr>
          <a:xfrm>
            <a:off x="2167007" y="1198460"/>
            <a:ext cx="4909649" cy="33706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1" type="body"/>
          </p:nvPr>
        </p:nvSpPr>
        <p:spPr>
          <a:xfrm>
            <a:off x="7565571" y="1198461"/>
            <a:ext cx="9018705" cy="6988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2" type="body"/>
          </p:nvPr>
        </p:nvSpPr>
        <p:spPr>
          <a:xfrm>
            <a:off x="2167007" y="4808237"/>
            <a:ext cx="4912520" cy="3372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SzPts val="2400"/>
              <a:buNone/>
              <a:defRPr sz="2400"/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100"/>
              <a:buNone/>
              <a:defRPr sz="21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67" name="Google Shape;67;p19"/>
          <p:cNvSpPr txBox="1"/>
          <p:nvPr>
            <p:ph idx="10" type="dt"/>
          </p:nvPr>
        </p:nvSpPr>
        <p:spPr>
          <a:xfrm>
            <a:off x="11331208" y="495555"/>
            <a:ext cx="5251073" cy="46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9"/>
          <p:cNvSpPr txBox="1"/>
          <p:nvPr>
            <p:ph idx="11" type="ftr"/>
          </p:nvPr>
        </p:nvSpPr>
        <p:spPr>
          <a:xfrm>
            <a:off x="2177369" y="493961"/>
            <a:ext cx="8908254" cy="46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9"/>
          <p:cNvSpPr txBox="1"/>
          <p:nvPr>
            <p:ph idx="12" type="sldNum"/>
          </p:nvPr>
        </p:nvSpPr>
        <p:spPr>
          <a:xfrm>
            <a:off x="720091" y="1198460"/>
            <a:ext cx="1216529" cy="7553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0" name="Google Shape;70;p19"/>
          <p:cNvCxnSpPr/>
          <p:nvPr/>
        </p:nvCxnSpPr>
        <p:spPr>
          <a:xfrm>
            <a:off x="2172420" y="4808237"/>
            <a:ext cx="4904235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20"/>
          <p:cNvGrpSpPr/>
          <p:nvPr/>
        </p:nvGrpSpPr>
        <p:grpSpPr>
          <a:xfrm>
            <a:off x="11216081" y="723256"/>
            <a:ext cx="6111800" cy="7723652"/>
            <a:chOff x="7477387" y="482170"/>
            <a:chExt cx="4074533" cy="5149101"/>
          </a:xfrm>
        </p:grpSpPr>
        <p:sp>
          <p:nvSpPr>
            <p:cNvPr id="73" name="Google Shape;73;p20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00" scaled="0"/>
            </a:gradFill>
            <a:ln>
              <a:noFill/>
            </a:ln>
            <a:effectLst>
              <a:outerShdw blurRad="127000" sx="98000" rotWithShape="0" algn="tl" dir="4740000" dist="228600" sy="98000">
                <a:srgbClr val="000000">
                  <a:alpha val="3372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20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cap="flat" cmpd="sng" w="50800">
              <a:solidFill>
                <a:srgbClr val="19191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20"/>
          <p:cNvSpPr txBox="1"/>
          <p:nvPr>
            <p:ph type="title"/>
          </p:nvPr>
        </p:nvSpPr>
        <p:spPr>
          <a:xfrm>
            <a:off x="2176809" y="1694270"/>
            <a:ext cx="8298492" cy="27458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Gill Sans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/>
          <p:nvPr>
            <p:ph idx="2" type="pic"/>
          </p:nvPr>
        </p:nvSpPr>
        <p:spPr>
          <a:xfrm>
            <a:off x="12186584" y="1683814"/>
            <a:ext cx="4186757" cy="5799491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2175494" y="4718988"/>
            <a:ext cx="8286606" cy="3005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SzPts val="2700"/>
              <a:buNone/>
              <a:defRPr sz="2700"/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100"/>
              <a:buNone/>
              <a:defRPr sz="21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78" name="Google Shape;78;p20"/>
          <p:cNvSpPr txBox="1"/>
          <p:nvPr>
            <p:ph idx="10" type="dt"/>
          </p:nvPr>
        </p:nvSpPr>
        <p:spPr>
          <a:xfrm>
            <a:off x="2171074" y="8204785"/>
            <a:ext cx="8291027" cy="4801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1" type="ftr"/>
          </p:nvPr>
        </p:nvSpPr>
        <p:spPr>
          <a:xfrm>
            <a:off x="2171073" y="477961"/>
            <a:ext cx="8311506" cy="4813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720091" y="1198460"/>
            <a:ext cx="1216529" cy="7553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1" name="Google Shape;81;p20"/>
          <p:cNvCxnSpPr/>
          <p:nvPr/>
        </p:nvCxnSpPr>
        <p:spPr>
          <a:xfrm>
            <a:off x="2171074" y="4715408"/>
            <a:ext cx="8291027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/>
          <p:nvPr>
            <p:ph type="title"/>
          </p:nvPr>
        </p:nvSpPr>
        <p:spPr>
          <a:xfrm>
            <a:off x="2177369" y="1206779"/>
            <a:ext cx="14404913" cy="1573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" type="body"/>
          </p:nvPr>
        </p:nvSpPr>
        <p:spPr>
          <a:xfrm rot="5400000">
            <a:off x="6791866" y="-1590898"/>
            <a:ext cx="5175920" cy="14404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0" type="dt"/>
          </p:nvPr>
        </p:nvSpPr>
        <p:spPr>
          <a:xfrm>
            <a:off x="11331208" y="495555"/>
            <a:ext cx="5251073" cy="46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11" type="ftr"/>
          </p:nvPr>
        </p:nvSpPr>
        <p:spPr>
          <a:xfrm>
            <a:off x="2177369" y="493961"/>
            <a:ext cx="8908254" cy="46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idx="12" type="sldNum"/>
          </p:nvPr>
        </p:nvSpPr>
        <p:spPr>
          <a:xfrm>
            <a:off x="720091" y="1198460"/>
            <a:ext cx="1216529" cy="7553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2180844" y="2770632"/>
            <a:ext cx="14411283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/>
          <p:nvPr>
            <p:ph type="title"/>
          </p:nvPr>
        </p:nvSpPr>
        <p:spPr>
          <a:xfrm rot="5400000">
            <a:off x="11875557" y="3481570"/>
            <a:ext cx="6989834" cy="2423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1" type="body"/>
          </p:nvPr>
        </p:nvSpPr>
        <p:spPr>
          <a:xfrm rot="5400000">
            <a:off x="4543713" y="-1178246"/>
            <a:ext cx="6989834" cy="11743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2"/>
          <p:cNvSpPr txBox="1"/>
          <p:nvPr>
            <p:ph idx="10" type="dt"/>
          </p:nvPr>
        </p:nvSpPr>
        <p:spPr>
          <a:xfrm>
            <a:off x="11331208" y="495555"/>
            <a:ext cx="5251073" cy="46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1" type="ftr"/>
          </p:nvPr>
        </p:nvSpPr>
        <p:spPr>
          <a:xfrm>
            <a:off x="2177369" y="493961"/>
            <a:ext cx="8908254" cy="46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2"/>
          <p:cNvSpPr txBox="1"/>
          <p:nvPr>
            <p:ph idx="12" type="sldNum"/>
          </p:nvPr>
        </p:nvSpPr>
        <p:spPr>
          <a:xfrm>
            <a:off x="720091" y="1198460"/>
            <a:ext cx="1216529" cy="7553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5" name="Google Shape;95;p22"/>
          <p:cNvCxnSpPr/>
          <p:nvPr/>
        </p:nvCxnSpPr>
        <p:spPr>
          <a:xfrm>
            <a:off x="14158667" y="1198460"/>
            <a:ext cx="0" cy="6989834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/>
          <p:nvPr/>
        </p:nvSpPr>
        <p:spPr>
          <a:xfrm>
            <a:off x="0" y="3029215"/>
            <a:ext cx="18288000" cy="6158912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" name="Google Shape;7;p11"/>
          <p:cNvPicPr preferRelativeResize="0"/>
          <p:nvPr/>
        </p:nvPicPr>
        <p:blipFill rotWithShape="1">
          <a:blip r:embed="rId1">
            <a:alphaModFix/>
          </a:blip>
          <a:srcRect b="-1538" l="0" r="0" t="1538"/>
          <a:stretch/>
        </p:blipFill>
        <p:spPr>
          <a:xfrm>
            <a:off x="0" y="9189720"/>
            <a:ext cx="18288000" cy="11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1"/>
          <p:cNvSpPr txBox="1"/>
          <p:nvPr>
            <p:ph type="title"/>
          </p:nvPr>
        </p:nvSpPr>
        <p:spPr>
          <a:xfrm>
            <a:off x="2177369" y="1206779"/>
            <a:ext cx="14404913" cy="1573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Gill Sans"/>
              <a:buNone/>
              <a:defRPr b="0" i="0" sz="4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1"/>
          <p:cNvSpPr txBox="1"/>
          <p:nvPr>
            <p:ph idx="1" type="body"/>
          </p:nvPr>
        </p:nvSpPr>
        <p:spPr>
          <a:xfrm>
            <a:off x="2177369" y="3023599"/>
            <a:ext cx="14404913" cy="51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marR="0" rt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00050" lvl="1" marL="914400" marR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81000" lvl="2" marL="1371600" marR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61950" lvl="3" marL="1828800" marR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42900" lvl="4" marL="2286000" marR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42900" lvl="5" marL="2743200" marR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42900" lvl="6" marL="3200400" marR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42900" lvl="7" marL="3657600" marR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42900" lvl="8" marL="4114800" marR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0" type="dt"/>
          </p:nvPr>
        </p:nvSpPr>
        <p:spPr>
          <a:xfrm>
            <a:off x="11331208" y="495555"/>
            <a:ext cx="5251073" cy="46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idx="11" type="ftr"/>
          </p:nvPr>
        </p:nvSpPr>
        <p:spPr>
          <a:xfrm>
            <a:off x="2177369" y="493961"/>
            <a:ext cx="8908254" cy="46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2" type="sldNum"/>
          </p:nvPr>
        </p:nvSpPr>
        <p:spPr>
          <a:xfrm>
            <a:off x="720091" y="1198460"/>
            <a:ext cx="1216529" cy="7553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 b="0" i="0" sz="42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 b="0" i="0" sz="42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 b="0" i="0" sz="42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 b="0" i="0" sz="42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 b="0" i="0" sz="42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 b="0" i="0" sz="42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 b="0" i="0" sz="42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 b="0" i="0" sz="42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Gill Sans"/>
              <a:buNone/>
              <a:defRPr b="0" i="0" sz="42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11"/>
          <p:cNvCxnSpPr/>
          <p:nvPr/>
        </p:nvCxnSpPr>
        <p:spPr>
          <a:xfrm>
            <a:off x="0" y="9192620"/>
            <a:ext cx="18288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kaggle.com/competitions/stat101ahouseprice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/>
        </p:nvSpPr>
        <p:spPr>
          <a:xfrm>
            <a:off x="9" y="160410"/>
            <a:ext cx="17784600" cy="58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Cardo"/>
              <a:buNone/>
            </a:pPr>
            <a:r>
              <a:rPr b="1" i="0" lang="en-US" sz="10000" u="none" cap="none" strike="noStrike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Implementing PCA </a:t>
            </a:r>
            <a:endParaRPr b="1" i="0" sz="10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Cardo"/>
              <a:buNone/>
            </a:pPr>
            <a:r>
              <a:rPr b="1" i="0" lang="en-US" sz="10000" u="none" cap="none" strike="noStrike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with a</a:t>
            </a:r>
            <a:endParaRPr b="1" i="0" sz="10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Cardo"/>
              <a:buNone/>
            </a:pPr>
            <a:r>
              <a:rPr b="1" i="0" lang="en-US" sz="10000" u="none" cap="none" strike="noStrike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 Neural Network</a:t>
            </a:r>
            <a:endParaRPr b="1" i="0" sz="10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460625" y="5876525"/>
            <a:ext cx="5671500" cy="3281400"/>
          </a:xfrm>
          <a:prstGeom prst="rect">
            <a:avLst/>
          </a:prstGeom>
          <a:solidFill>
            <a:srgbClr val="7B6F5E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27995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4174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50"/>
              <a:buFont typeface="Arial"/>
              <a:buNone/>
            </a:pPr>
            <a:r>
              <a:rPr b="1" i="0" lang="en-US" sz="2500" u="none" cap="none" strike="noStrike">
                <a:solidFill>
                  <a:schemeClr val="lt1"/>
                </a:solidFill>
              </a:rPr>
              <a:t>Presenters </a:t>
            </a:r>
            <a:endParaRPr b="1" i="0" sz="2500" u="none" cap="none" strike="noStrike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4372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Arial"/>
              <a:buNone/>
            </a:pPr>
            <a:r>
              <a:rPr b="1" i="0" lang="en-US" sz="2500" u="none" cap="none" strike="noStrike">
                <a:solidFill>
                  <a:schemeClr val="lt1"/>
                </a:solidFill>
              </a:rPr>
              <a:t>Reza Abdollahi</a:t>
            </a:r>
            <a:r>
              <a:rPr b="0" i="0" lang="en-US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apa6323@psu.edu</a:t>
            </a:r>
            <a:endParaRPr b="0" i="0" sz="2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372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Arial"/>
              <a:buNone/>
            </a:pPr>
            <a:r>
              <a:rPr b="1" lang="en-US" sz="2500">
                <a:solidFill>
                  <a:schemeClr val="lt1"/>
                </a:solidFill>
              </a:rPr>
              <a:t>   </a:t>
            </a:r>
            <a:r>
              <a:rPr b="1" i="0" lang="en-US" sz="2500" u="none" cap="none" strike="noStrike">
                <a:solidFill>
                  <a:schemeClr val="lt1"/>
                </a:solidFill>
              </a:rPr>
              <a:t>Ali Iranmanesh</a:t>
            </a:r>
            <a:r>
              <a:rPr b="0" i="0" lang="en-US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afi5220@psu.edu</a:t>
            </a:r>
            <a:endParaRPr b="0" i="0" sz="2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372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Arial"/>
              <a:buNone/>
            </a:pPr>
            <a:r>
              <a:rPr b="1" i="0" lang="en-US" sz="2500" u="none" cap="none" strike="noStrike">
                <a:solidFill>
                  <a:schemeClr val="lt1"/>
                </a:solidFill>
              </a:rPr>
              <a:t>Ava Iranmanesh</a:t>
            </a:r>
            <a:r>
              <a:rPr b="0" i="0" lang="en-US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ami5520@psu.edu</a:t>
            </a:r>
            <a:endParaRPr b="0" i="0" sz="2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372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Arial"/>
              <a:buNone/>
            </a:pPr>
            <a:r>
              <a:rPr b="1" i="0" lang="en-US" sz="2500" u="none" cap="none" strike="noStrike">
                <a:solidFill>
                  <a:schemeClr val="lt1"/>
                </a:solidFill>
              </a:rPr>
              <a:t>Joshua Nallaraja</a:t>
            </a:r>
            <a:r>
              <a:rPr b="0" i="0" lang="en-US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jmn6092@psu.edu</a:t>
            </a:r>
            <a:endParaRPr b="0" i="0" sz="2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9"/>
              <a:buFont typeface="Gill Sans"/>
              <a:buNone/>
            </a:pPr>
            <a:r>
              <a:t/>
            </a:r>
            <a:endParaRPr b="0" i="0" sz="2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6425411" y="5876209"/>
            <a:ext cx="5407198" cy="3281389"/>
          </a:xfrm>
          <a:prstGeom prst="rect">
            <a:avLst/>
          </a:prstGeom>
          <a:solidFill>
            <a:srgbClr val="7B6F5E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174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0"/>
              <a:buFont typeface="Gill Sans"/>
              <a:buNone/>
            </a:pPr>
            <a:r>
              <a:t/>
            </a:r>
            <a:endParaRPr b="1" i="0" sz="2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174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50"/>
              <a:buFont typeface="Arial"/>
              <a:buNone/>
            </a:pPr>
            <a:r>
              <a:t/>
            </a:r>
            <a:endParaRPr b="1" sz="25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4174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50"/>
              <a:buFont typeface="Arial"/>
              <a:buNone/>
            </a:pPr>
            <a:r>
              <a:rPr b="1" i="0" lang="en-US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Supervisor</a:t>
            </a:r>
            <a:endParaRPr b="1" i="0" sz="2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372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Arial"/>
              <a:buNone/>
            </a:pPr>
            <a:r>
              <a:rPr b="1" i="0" lang="en-US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 Jonathan Liaw</a:t>
            </a:r>
            <a:endParaRPr b="1" i="0" sz="2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9"/>
              <a:buFont typeface="Gill Sans"/>
              <a:buNone/>
            </a:pPr>
            <a:r>
              <a:t/>
            </a:r>
            <a:endParaRPr b="1" i="0" sz="2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9"/>
              <a:buFont typeface="Gill Sans"/>
              <a:buNone/>
            </a:pPr>
            <a:r>
              <a:t/>
            </a:r>
            <a:endParaRPr b="1" i="0" sz="2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9"/>
              <a:buFont typeface="Gill Sans"/>
              <a:buNone/>
            </a:pPr>
            <a:r>
              <a:t/>
            </a:r>
            <a:endParaRPr b="1" i="0" sz="2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9"/>
              <a:buFont typeface="Gill Sans"/>
              <a:buNone/>
            </a:pPr>
            <a:r>
              <a:t/>
            </a:r>
            <a:endParaRPr b="1" i="0" sz="2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12468295" y="5876459"/>
            <a:ext cx="5407199" cy="3281141"/>
          </a:xfrm>
          <a:prstGeom prst="rect">
            <a:avLst/>
          </a:prstGeom>
          <a:solidFill>
            <a:srgbClr val="7B6F5E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174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0"/>
              <a:buFont typeface="Gill Sans"/>
              <a:buNone/>
            </a:pPr>
            <a:r>
              <a:t/>
            </a:r>
            <a:endParaRPr b="1" i="0" sz="2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174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50"/>
              <a:buFont typeface="Arial"/>
              <a:buNone/>
            </a:pPr>
            <a:r>
              <a:t/>
            </a:r>
            <a:endParaRPr b="1" sz="25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4174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50"/>
              <a:buFont typeface="Arial"/>
              <a:buNone/>
            </a:pPr>
            <a:r>
              <a:rPr b="1" i="0" lang="en-US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 b="1" i="0" sz="2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372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Arial"/>
              <a:buNone/>
            </a:pPr>
            <a:r>
              <a:rPr b="1" i="0" lang="en-US" sz="2500" u="none" cap="none" strike="noStrike">
                <a:solidFill>
                  <a:schemeClr val="lt1"/>
                </a:solidFill>
              </a:rPr>
              <a:t>CMPSC 445</a:t>
            </a:r>
            <a:endParaRPr b="1" i="0" sz="2500" u="none" cap="none" strike="noStrike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9"/>
              <a:buFont typeface="Gill Sans"/>
              <a:buNone/>
            </a:pPr>
            <a:r>
              <a:t/>
            </a:r>
            <a:endParaRPr b="1" i="0" sz="2500" u="none" cap="none" strike="noStrike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9"/>
              <a:buFont typeface="Gill Sans"/>
              <a:buNone/>
            </a:pPr>
            <a:r>
              <a:t/>
            </a:r>
            <a:endParaRPr b="1" i="0" sz="2500" u="none" cap="none" strike="noStrike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9"/>
              <a:buFont typeface="Gill Sans"/>
              <a:buNone/>
            </a:pPr>
            <a:r>
              <a:t/>
            </a:r>
            <a:endParaRPr b="1" i="0" sz="2500" u="none" cap="none" strike="noStrike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9"/>
              <a:buFont typeface="Gill Sans"/>
              <a:buNone/>
            </a:pPr>
            <a:r>
              <a:t/>
            </a:r>
            <a:endParaRPr b="1" i="0" sz="2500" u="none" cap="none" strike="noStrike">
              <a:solidFill>
                <a:schemeClr val="lt1"/>
              </a:solidFill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672850" y="6100425"/>
            <a:ext cx="1569900" cy="433500"/>
          </a:xfrm>
          <a:prstGeom prst="rect">
            <a:avLst/>
          </a:prstGeom>
          <a:solidFill>
            <a:srgbClr val="7B6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Group 1</a:t>
            </a:r>
            <a:endParaRPr sz="26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 txBox="1"/>
          <p:nvPr/>
        </p:nvSpPr>
        <p:spPr>
          <a:xfrm>
            <a:off x="772375" y="1958676"/>
            <a:ext cx="16573500" cy="54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8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000000"/>
                </a:solidFill>
              </a:rPr>
              <a:t>Objectives</a:t>
            </a:r>
            <a:r>
              <a:rPr b="0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ill Sans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3694" lvl="1" marL="78422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Explore how Neural Networks (Autoencoders) can be used to perform PCA.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3194" lvl="1" marL="78422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3694" lvl="1" marL="78422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 the latent space learned by the neural network with that obtained from PCA by computing their principal angles.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3194" lvl="1" marL="78422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3693" lvl="1" marL="78422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Examine the advantages of using neural networks for dimensionality reduction on real-world datasets.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11878276" y="2078171"/>
            <a:ext cx="5232000" cy="10479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Unsupervised</a:t>
            </a:r>
            <a:endParaRPr b="0" i="0" sz="3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0" y="0"/>
            <a:ext cx="18288000" cy="1385400"/>
          </a:xfrm>
          <a:prstGeom prst="rect">
            <a:avLst/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b="1" i="0" lang="en-US" sz="5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Goal, Challenge, Solution</a:t>
            </a:r>
            <a:endParaRPr b="1" i="0" sz="5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F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/>
        </p:nvSpPr>
        <p:spPr>
          <a:xfrm>
            <a:off x="658650" y="4572250"/>
            <a:ext cx="16970700" cy="49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000000"/>
                </a:solidFill>
              </a:rPr>
              <a:t>Our solution</a:t>
            </a:r>
            <a:endParaRPr b="1" i="0" sz="5000" u="none" cap="none" strike="noStrike">
              <a:solidFill>
                <a:schemeClr val="dk1"/>
              </a:solidFill>
            </a:endParaRPr>
          </a:p>
          <a:p>
            <a:pPr indent="-316228" lvl="1" marL="73406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•"/>
            </a:pPr>
            <a:r>
              <a:rPr i="0" lang="en-US" sz="2600" u="none" cap="none" strike="noStrike">
                <a:solidFill>
                  <a:srgbClr val="000000"/>
                </a:solidFill>
              </a:rPr>
              <a:t>A Neural Network (Specifically autoencoders) as a replacement to PCA</a:t>
            </a:r>
            <a:endParaRPr i="0" sz="2600" u="none" cap="none" strike="noStrike">
              <a:solidFill>
                <a:srgbClr val="000000"/>
              </a:solidFill>
            </a:endParaRPr>
          </a:p>
          <a:p>
            <a:pPr indent="-438150" lvl="2" marL="146812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⚬"/>
            </a:pPr>
            <a:r>
              <a:rPr i="0" lang="en-US" sz="2600" u="none" cap="none" strike="noStrike">
                <a:solidFill>
                  <a:srgbClr val="000000"/>
                </a:solidFill>
              </a:rPr>
              <a:t>Unlike PCA, a NN with a non-linear activation function will not assume the linearity of a dataset.</a:t>
            </a:r>
            <a:endParaRPr sz="2600"/>
          </a:p>
          <a:p>
            <a:pPr indent="-438150" lvl="2" marL="146812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⚬"/>
            </a:pPr>
            <a:r>
              <a:rPr lang="en-US" sz="2600">
                <a:solidFill>
                  <a:schemeClr val="dk1"/>
                </a:solidFill>
              </a:rPr>
              <a:t>A Linear Autoencoder can be trained with gradient descent and integrated into deep learning pipelines, making it scalable and compatible with neural network architectures.</a:t>
            </a:r>
            <a:endParaRPr sz="2600">
              <a:solidFill>
                <a:schemeClr val="dk1"/>
              </a:solidFill>
            </a:endParaRPr>
          </a:p>
          <a:p>
            <a:pPr indent="-438150" lvl="2" marL="146812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⚬"/>
            </a:pPr>
            <a:r>
              <a:rPr lang="en-US" sz="2600">
                <a:solidFill>
                  <a:schemeClr val="dk1"/>
                </a:solidFill>
              </a:rPr>
              <a:t>Linear AE can be trained using stochastic gradient descent on mini-batches, scalable to massive datasets much easier, and less expensive.</a:t>
            </a:r>
            <a:endParaRPr sz="2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2470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Gill Sans"/>
              <a:buNone/>
            </a:pPr>
            <a:r>
              <a:t/>
            </a:r>
            <a:endParaRPr i="0" sz="3400" u="none" cap="none" strike="noStrike">
              <a:solidFill>
                <a:srgbClr val="000000"/>
              </a:solidFill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0" y="0"/>
            <a:ext cx="18288000" cy="1385400"/>
          </a:xfrm>
          <a:prstGeom prst="rect">
            <a:avLst/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b="1" i="0" lang="en-US" sz="5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Goal, Challenge, Solution</a:t>
            </a:r>
            <a:endParaRPr b="1" i="0" sz="5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658650" y="1502300"/>
            <a:ext cx="169707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000000"/>
                </a:solidFill>
              </a:rPr>
              <a:t>Problem</a:t>
            </a:r>
            <a:endParaRPr b="1" i="0" sz="5000" u="none" cap="none" strike="noStrike">
              <a:solidFill>
                <a:schemeClr val="dk1"/>
              </a:solidFill>
            </a:endParaRPr>
          </a:p>
          <a:p>
            <a:pPr indent="-334010" lvl="1" marL="82042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•"/>
            </a:pPr>
            <a:r>
              <a:rPr i="0" lang="en-US" sz="2600" u="none" cap="none" strike="noStrike">
                <a:solidFill>
                  <a:srgbClr val="000000"/>
                </a:solidFill>
              </a:rPr>
              <a:t>High-dimensional data can be difficult to analyze and visualize efficiently.</a:t>
            </a:r>
            <a:endParaRPr i="0" sz="2600" u="none" cap="none" strike="noStrike">
              <a:solidFill>
                <a:schemeClr val="dk1"/>
              </a:solidFill>
            </a:endParaRPr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>
                <a:solidFill>
                  <a:schemeClr val="dk1"/>
                </a:solidFill>
              </a:rPr>
              <a:t>PCA which would be computationally expensive.</a:t>
            </a:r>
            <a:endParaRPr i="0" sz="2600" u="none" cap="none" strike="noStrike">
              <a:solidFill>
                <a:schemeClr val="dk1"/>
              </a:solidFill>
            </a:endParaRPr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>
                <a:solidFill>
                  <a:schemeClr val="dk1"/>
                </a:solidFill>
              </a:rPr>
              <a:t>PCA is a standalone, non-trainable method.</a:t>
            </a:r>
            <a:endParaRPr sz="26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</a:endParaRPr>
          </a:p>
          <a:p>
            <a:pPr indent="-346710" lvl="1" marL="820420" marR="0" rtl="0" algn="l">
              <a:lnSpc>
                <a:spcPct val="53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i="0" sz="10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F0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/>
          <p:nvPr/>
        </p:nvSpPr>
        <p:spPr>
          <a:xfrm>
            <a:off x="476100" y="3150012"/>
            <a:ext cx="6582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dimensionality = Curse of dimensionality</a:t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356526" y="121850"/>
            <a:ext cx="4815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Gill Sans"/>
              <a:buNone/>
            </a:pPr>
            <a:r>
              <a:t/>
            </a:r>
            <a:endParaRPr b="1" i="0" sz="5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11628187" y="6574250"/>
            <a:ext cx="6324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800"/>
              <a:buFont typeface="Calibri"/>
              <a:buNone/>
            </a:pPr>
            <a:r>
              <a:rPr b="0" i="0" lang="en-US" sz="1800" u="sng" cap="none" strike="noStrike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https://www.kaggle.com/competitions/stat101ahouseprice</a:t>
            </a:r>
            <a:endParaRPr b="0" i="0" sz="1800" u="none" cap="none" strike="noStrik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AI-generated content may be incorrect." id="126" name="Google Shape;12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1825" y="7028225"/>
            <a:ext cx="15748799" cy="206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4" title="MSSubClass.png"/>
          <p:cNvPicPr preferRelativeResize="0"/>
          <p:nvPr/>
        </p:nvPicPr>
        <p:blipFill rotWithShape="1">
          <a:blip r:embed="rId5">
            <a:alphaModFix/>
          </a:blip>
          <a:srcRect b="-7089" l="0" r="0" t="7090"/>
          <a:stretch/>
        </p:blipFill>
        <p:spPr>
          <a:xfrm>
            <a:off x="10508850" y="2909600"/>
            <a:ext cx="4733925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4" title="amesHousingShape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54963" y="3666525"/>
            <a:ext cx="4473875" cy="11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 txBox="1"/>
          <p:nvPr/>
        </p:nvSpPr>
        <p:spPr>
          <a:xfrm>
            <a:off x="1549500" y="6246725"/>
            <a:ext cx="151890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4205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ill Sans"/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Publicly available at Kaggle‘s Ames Housing Competition page</a:t>
            </a:r>
            <a:endParaRPr b="0" i="0" sz="3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6055150" y="983750"/>
            <a:ext cx="56979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-274025" y="4849250"/>
            <a:ext cx="88956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71600" marR="0" rtl="0" algn="l">
              <a:lnSpc>
                <a:spcPct val="142059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Contains 2,930 entries with 82-columns (79 features).</a:t>
            </a:r>
            <a:endParaRPr sz="25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9116763" y="4547900"/>
            <a:ext cx="90489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71600" marR="0" rtl="0" algn="l">
              <a:lnSpc>
                <a:spcPct val="14205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Gill Sans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Describes the various characteristics of residential homes in Ames, Iowa such as MS SubClass, LotShape.</a:t>
            </a:r>
            <a:endParaRPr b="0" i="0" sz="25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6205650" y="1633897"/>
            <a:ext cx="5876700" cy="10272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AmesHousing Dataset (Primary)</a:t>
            </a:r>
            <a:endParaRPr b="1" i="0" sz="3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0" y="0"/>
            <a:ext cx="18288000" cy="1385400"/>
          </a:xfrm>
          <a:prstGeom prst="rect">
            <a:avLst/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b="1" i="0" lang="en-US" sz="5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Source(s)</a:t>
            </a:r>
            <a:endParaRPr b="1" i="0" sz="5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F0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 txBox="1"/>
          <p:nvPr/>
        </p:nvSpPr>
        <p:spPr>
          <a:xfrm>
            <a:off x="-1017653" y="2398792"/>
            <a:ext cx="7624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61339" lvl="1" marL="1122045" marR="0" rtl="0" algn="ctr">
              <a:lnSpc>
                <a:spcPct val="181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AutoNum type="arabicPeriod"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Preparation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8299816" y="2398799"/>
            <a:ext cx="9104137" cy="834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1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 Basic PCA Implementation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9141807" y="2568575"/>
            <a:ext cx="9525" cy="2397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9141807" y="4819967"/>
            <a:ext cx="9525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643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443058" y="3429012"/>
            <a:ext cx="8469000" cy="44042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3425" marR="0" rtl="0" algn="l">
              <a:lnSpc>
                <a:spcPct val="1586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Cleaning 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to handle missing values and outliers with houses.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030" lvl="1" marL="733425" marR="0" rtl="0" algn="l">
              <a:lnSpc>
                <a:spcPct val="1586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Normalize 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numerical features to prevent unneeded bias.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030" lvl="1" marL="733425" marR="0" rtl="0" algn="l">
              <a:lnSpc>
                <a:spcPct val="1586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Categorical 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features transformed into 1-hot feature vectors.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9034584" y="3435961"/>
            <a:ext cx="9092700" cy="3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3425" marR="0" rtl="0" algn="l">
              <a:lnSpc>
                <a:spcPct val="1586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the use of Scikit-learn, reduce dimensionality of dataset using traditional </a:t>
            </a: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PCA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7030" lvl="1" marL="733425" marR="0" rtl="0" algn="l">
              <a:lnSpc>
                <a:spcPct val="1586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Analyze 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explained variance of each principle components.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030" lvl="1" marL="733425" marR="0" rtl="0" algn="l">
              <a:lnSpc>
                <a:spcPct val="1586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Visualize 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0" y="0"/>
            <a:ext cx="18288000" cy="1385400"/>
          </a:xfrm>
          <a:prstGeom prst="rect">
            <a:avLst/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b="1" i="0" lang="en-US" sz="5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endParaRPr b="1" i="0" sz="5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F0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 txBox="1"/>
          <p:nvPr/>
        </p:nvSpPr>
        <p:spPr>
          <a:xfrm>
            <a:off x="565758" y="2236075"/>
            <a:ext cx="8575024" cy="796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15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Autoencoder Implementation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9147219" y="2338716"/>
            <a:ext cx="8725437" cy="834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1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Evaluation – Final States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9141807" y="2568575"/>
            <a:ext cx="9525" cy="2397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10128929" y="3581128"/>
            <a:ext cx="8160900" cy="41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3425" marR="0" rtl="0" algn="l">
              <a:lnSpc>
                <a:spcPct val="1586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 various factors: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88950" lvl="2" marL="1467485" marR="0" rtl="0" algn="l">
              <a:lnSpc>
                <a:spcPct val="1586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⚬"/>
            </a:pPr>
            <a:r>
              <a:rPr lang="en-US" sz="3000"/>
              <a:t>R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econstruction error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88950" lvl="2" marL="1467485" marR="0" rtl="0" algn="l">
              <a:lnSpc>
                <a:spcPct val="1586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⚬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Principle Angle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88950" lvl="2" marL="1467485" marR="0" rtl="0" algn="l">
              <a:lnSpc>
                <a:spcPct val="1586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⚬"/>
            </a:pPr>
            <a:r>
              <a:rPr lang="en-US" sz="3000"/>
              <a:t>P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erformance in a regression task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030" lvl="1" marL="733425" marR="0" rtl="0" algn="l">
              <a:lnSpc>
                <a:spcPct val="1586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Determine the effectiveness of a neural network-based PCA vs Traditional.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9141807" y="4819967"/>
            <a:ext cx="9525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643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481776" y="3173240"/>
            <a:ext cx="8191269" cy="1803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3425" marR="0" rtl="0" algn="l">
              <a:lnSpc>
                <a:spcPct val="1586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and train a linear autoencoder using PyTorch.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6530" lvl="1" marL="733425" marR="0" rtl="0" algn="l">
              <a:lnSpc>
                <a:spcPct val="1586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diagram of a network&#10;&#10;AI-generated content may be incorrect." id="156" name="Google Shape;15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776" y="4820267"/>
            <a:ext cx="7098524" cy="420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/>
          <p:nvPr/>
        </p:nvSpPr>
        <p:spPr>
          <a:xfrm>
            <a:off x="0" y="0"/>
            <a:ext cx="18288000" cy="1385400"/>
          </a:xfrm>
          <a:prstGeom prst="rect">
            <a:avLst/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b="1" i="0" lang="en-US" sz="5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 Cont.</a:t>
            </a:r>
            <a:endParaRPr b="1" i="0" sz="5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F0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 txBox="1"/>
          <p:nvPr/>
        </p:nvSpPr>
        <p:spPr>
          <a:xfrm>
            <a:off x="1111825" y="2515225"/>
            <a:ext cx="827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Knowledge Areas</a:t>
            </a:r>
            <a:endParaRPr b="0" i="0" sz="4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3" name="Google Shape;163;p7"/>
          <p:cNvSpPr txBox="1"/>
          <p:nvPr/>
        </p:nvSpPr>
        <p:spPr>
          <a:xfrm>
            <a:off x="9878275" y="2515225"/>
            <a:ext cx="6712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and Libraries</a:t>
            </a:r>
            <a:endParaRPr b="0" i="0" sz="4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861953" y="3607900"/>
            <a:ext cx="62586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4805" lvl="1" marL="7334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Algebra 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4805" lvl="1" marL="7334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Neural Networks(Autoencoders)</a:t>
            </a:r>
            <a:endParaRPr b="0" i="0" sz="3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4805" lvl="1" marL="7334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 Analysis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805" lvl="1" marL="7334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ill Sans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 Visualization.</a:t>
            </a:r>
            <a:endParaRPr b="0" i="0" sz="3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4805" lvl="1" marL="7334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ill Sans"/>
              <a:buChar char="•"/>
            </a:pPr>
            <a:r>
              <a:rPr lang="en-US" sz="3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Test</a:t>
            </a:r>
            <a:r>
              <a:rPr b="0" i="0" lang="en-US" sz="3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and Validation </a:t>
            </a:r>
            <a:r>
              <a:rPr lang="en-US" sz="3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metrics</a:t>
            </a:r>
            <a:r>
              <a:rPr b="0" i="0" lang="en-US" sz="3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9878275" y="3607900"/>
            <a:ext cx="8409600" cy="39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1693" lvl="1" marL="7334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Python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805" lvl="1" marL="7334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PyTorch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(for training neural networks)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693" lvl="1" marL="7334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SciKit-learn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implementation of traditional PCA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805" lvl="1" marL="7334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Pandas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Numpy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MatPlotLib, and Sea</a:t>
            </a:r>
            <a:r>
              <a:rPr b="1" lang="en-US" sz="3000">
                <a:latin typeface="Gill Sans"/>
                <a:ea typeface="Gill Sans"/>
                <a:cs typeface="Gill Sans"/>
                <a:sym typeface="Gill Sans"/>
              </a:rPr>
              <a:t>born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data visualization and storage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0" y="0"/>
            <a:ext cx="18288000" cy="1385400"/>
          </a:xfrm>
          <a:prstGeom prst="rect">
            <a:avLst/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b="1" i="0" lang="en-US" sz="5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Knowledge Areas and Tools and Libraries</a:t>
            </a:r>
            <a:endParaRPr b="1" i="0" sz="5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F0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 txBox="1"/>
          <p:nvPr/>
        </p:nvSpPr>
        <p:spPr>
          <a:xfrm>
            <a:off x="1019175" y="2400300"/>
            <a:ext cx="16964100" cy="3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2754" lvl="1" marL="906145" marR="0" rtl="0" algn="l">
              <a:lnSpc>
                <a:spcPct val="1416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50"/>
              <a:buFont typeface="Arial"/>
              <a:buChar char="•"/>
            </a:pPr>
            <a:r>
              <a:rPr b="0" i="0" lang="en-US" sz="41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Dimensionality reduction</a:t>
            </a:r>
            <a:endParaRPr b="0" i="0" sz="4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2754" lvl="1" marL="906145" marR="0" rtl="0" algn="l">
              <a:lnSpc>
                <a:spcPct val="1416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50"/>
              <a:buFont typeface="Arial"/>
              <a:buChar char="•"/>
            </a:pPr>
            <a:r>
              <a:rPr b="0" i="0" lang="en-US" sz="41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Autoencoder architecture design</a:t>
            </a:r>
            <a:endParaRPr b="0" i="0" sz="4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2754" lvl="1" marL="906145" marR="0" rtl="0" algn="l">
              <a:lnSpc>
                <a:spcPct val="1416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50"/>
              <a:buFont typeface="Arial"/>
              <a:buChar char="•"/>
            </a:pPr>
            <a:r>
              <a:rPr b="0" i="0" lang="en-US" sz="41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scaling</a:t>
            </a:r>
            <a:endParaRPr b="0" i="0" sz="4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2754" lvl="1" marL="906145" marR="0" rtl="0" algn="l">
              <a:lnSpc>
                <a:spcPct val="1416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50"/>
              <a:buFont typeface="Arial"/>
              <a:buChar char="•"/>
            </a:pPr>
            <a:r>
              <a:rPr b="0" i="0" lang="en-US" sz="41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Evaluation</a:t>
            </a:r>
            <a:endParaRPr b="0" i="0" sz="4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0" y="0"/>
            <a:ext cx="18288000" cy="1385400"/>
          </a:xfrm>
          <a:prstGeom prst="rect">
            <a:avLst/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b="1" i="0" lang="en-US" sz="5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Techniques </a:t>
            </a:r>
            <a:endParaRPr b="1" i="0" sz="5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 txBox="1"/>
          <p:nvPr/>
        </p:nvSpPr>
        <p:spPr>
          <a:xfrm>
            <a:off x="381000" y="3117275"/>
            <a:ext cx="86934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Gill Sans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Joshua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Python programming and development.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Gill Sans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Reza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Data </a:t>
            </a:r>
            <a:r>
              <a:rPr lang="en-US" sz="3000"/>
              <a:t>p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reparation and preprocessing.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Gill Sans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Ali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Machine Learning and test implementations.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Gill Sans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Ava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Data visualization 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0" y="0"/>
            <a:ext cx="18288000" cy="1385400"/>
          </a:xfrm>
          <a:prstGeom prst="rect">
            <a:avLst/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b="1" i="0" lang="en-US" sz="5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Team Member Roles and Communication </a:t>
            </a:r>
            <a:endParaRPr b="1" i="0" sz="5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9680850" y="2822876"/>
            <a:ext cx="8797800" cy="43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416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ill Sans"/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Mode of communication</a:t>
            </a:r>
            <a:endParaRPr b="0" i="0" sz="3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19100" lvl="0" marL="457200" marR="0" rtl="0" algn="l">
              <a:lnSpc>
                <a:spcPct val="1416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ill Sans"/>
              <a:buChar char="●"/>
            </a:pPr>
            <a:r>
              <a:rPr b="0" i="0" lang="en-US" sz="3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Version control: Git</a:t>
            </a:r>
            <a:endParaRPr b="0" i="0" sz="3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19100" lvl="0" marL="457200" marR="0" rtl="0" algn="l">
              <a:lnSpc>
                <a:spcPct val="1416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ill Sans"/>
              <a:buChar char="●"/>
            </a:pPr>
            <a:r>
              <a:rPr b="0" i="0" lang="en-US" sz="3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</a:t>
            </a:r>
            <a:r>
              <a:rPr lang="en-US" sz="3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roject repository</a:t>
            </a:r>
            <a:r>
              <a:rPr b="0" i="0" lang="en-US" sz="3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: </a:t>
            </a:r>
            <a:r>
              <a:rPr lang="en-US" sz="3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google drive</a:t>
            </a:r>
            <a:endParaRPr b="0" i="0" sz="3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19100" lvl="0" marL="457200" marR="0" rtl="0" algn="l">
              <a:lnSpc>
                <a:spcPct val="1416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ill Sans"/>
              <a:buChar char="●"/>
            </a:pPr>
            <a:r>
              <a:rPr b="0" i="0" lang="en-US" sz="3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Communication: Teams, </a:t>
            </a:r>
            <a:r>
              <a:rPr lang="en-US" sz="3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Zoom, Outlook</a:t>
            </a:r>
            <a:endParaRPr sz="3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19100" lvl="0" marL="457200" marR="0" rtl="0" algn="l">
              <a:lnSpc>
                <a:spcPct val="1416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ill Sans"/>
              <a:buChar char="●"/>
            </a:pPr>
            <a:r>
              <a:rPr b="0" i="0" lang="en-US" sz="3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Meeting for 2 hours a week at variable times.</a:t>
            </a:r>
            <a:endParaRPr b="0" i="0" sz="3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 txBox="1"/>
          <p:nvPr/>
        </p:nvSpPr>
        <p:spPr>
          <a:xfrm>
            <a:off x="4926842" y="3204508"/>
            <a:ext cx="86391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llery">
  <a:themeElements>
    <a:clrScheme name="Gallery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Abdollahi Dezfuli Nezhad, Reza</dc:creator>
</cp:coreProperties>
</file>